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54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2237462"/>
            <a:ext cx="426243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Acessibilidade Digital no Comércio de Alimentos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Isabella Luiza dos Santos Souza</a:t>
            </a: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Vitor Muniz de Aguiar </a:t>
            </a:r>
            <a:b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</a:b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Gustavo Mendonça </a:t>
            </a:r>
            <a:r>
              <a:rPr lang="pt-BR" altLang="pt-BR" sz="1200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Scharman</a:t>
            </a:r>
            <a:b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</a:b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Luigi </a:t>
            </a:r>
            <a:r>
              <a:rPr lang="pt-BR" altLang="pt-BR" sz="1200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Masashi</a:t>
            </a: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Matsushita</a:t>
            </a:r>
            <a:b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</a:b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Thiago </a:t>
            </a:r>
            <a:r>
              <a:rPr lang="pt-BR" altLang="pt-BR" sz="1200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Maiorino</a:t>
            </a: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Grillo</a:t>
            </a:r>
            <a:b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</a:b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Felipe Mansour </a:t>
            </a:r>
            <a:r>
              <a:rPr lang="pt-BR" altLang="pt-BR" sz="1200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Valvassori</a:t>
            </a: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6026521"/>
            <a:ext cx="30908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CIÊNCIA DA COMPUTAÇÃO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4658" y="4783792"/>
            <a:ext cx="30451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Acessibilidade digital • Inclusão • Comércio de alimentos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None/>
            </a:pPr>
            <a:r>
              <a:rPr lang="pt-BR" sz="1400" dirty="0">
                <a:solidFill>
                  <a:srgbClr val="000000"/>
                </a:solidFill>
                <a:latin typeface="Arial"/>
              </a:rPr>
              <a:t>PROBLEMÁTICA</a:t>
            </a:r>
          </a:p>
          <a:p>
            <a:pPr>
              <a:buNone/>
            </a:pPr>
            <a:r>
              <a:rPr lang="pt-BR" sz="1400" dirty="0">
                <a:solidFill>
                  <a:srgbClr val="000000"/>
                </a:solidFill>
                <a:latin typeface="Arial"/>
              </a:rPr>
              <a:t>• Sites e aplicativos de alimentos nem sempre são acessíveis a todos.</a:t>
            </a:r>
          </a:p>
          <a:p>
            <a:pPr>
              <a:buNone/>
            </a:pPr>
            <a:r>
              <a:rPr lang="pt-BR" sz="1400" dirty="0">
                <a:solidFill>
                  <a:srgbClr val="000000"/>
                </a:solidFill>
                <a:latin typeface="Arial"/>
              </a:rPr>
              <a:t>• Barreiras de navegação e leitura podem reduzir a autonomia de pessoas com deficiência visual.</a:t>
            </a:r>
          </a:p>
          <a:p>
            <a:pPr>
              <a:buNone/>
            </a:pPr>
            <a:endParaRPr lang="pt-BR" sz="1400" dirty="0">
              <a:solidFill>
                <a:srgbClr val="000000"/>
              </a:solidFill>
              <a:latin typeface="Arial"/>
            </a:endParaRPr>
          </a:p>
          <a:p>
            <a:pPr>
              <a:buNone/>
            </a:pPr>
            <a:r>
              <a:rPr lang="pt-BR" sz="1400" dirty="0">
                <a:solidFill>
                  <a:srgbClr val="000000"/>
                </a:solidFill>
                <a:latin typeface="Arial"/>
              </a:rPr>
              <a:t>JUSTIFICATIVA</a:t>
            </a:r>
          </a:p>
          <a:p>
            <a:pPr>
              <a:buNone/>
            </a:pPr>
            <a:r>
              <a:rPr lang="pt-BR" sz="1400" dirty="0">
                <a:solidFill>
                  <a:srgbClr val="000000"/>
                </a:solidFill>
                <a:latin typeface="Arial"/>
              </a:rPr>
              <a:t>• O comércio digital faz parte do cotidiano e precisa considerar diferentes usuários.</a:t>
            </a:r>
          </a:p>
          <a:p>
            <a:pPr>
              <a:buNone/>
            </a:pPr>
            <a:r>
              <a:rPr lang="pt-BR" sz="1400" dirty="0">
                <a:solidFill>
                  <a:srgbClr val="000000"/>
                </a:solidFill>
                <a:latin typeface="Arial"/>
              </a:rPr>
              <a:t>• A acessibilidade favorece inclusão, autonomia e igualdade de acesso aos serviços.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None/>
            </a:pPr>
            <a:r>
              <a:rPr lang="pt-BR" sz="1400" dirty="0">
                <a:solidFill>
                  <a:srgbClr val="000000"/>
                </a:solidFill>
                <a:latin typeface="Arial"/>
              </a:rPr>
              <a:t>OBJETIVO GERAL</a:t>
            </a:r>
          </a:p>
          <a:p>
            <a:pPr>
              <a:buNone/>
            </a:pPr>
            <a:r>
              <a:rPr lang="pt-BR" sz="1400" dirty="0">
                <a:solidFill>
                  <a:srgbClr val="000000"/>
                </a:solidFill>
                <a:latin typeface="Arial"/>
              </a:rPr>
              <a:t>• Analisar barreiras de acessibilidade digital no comércio de alimentos e possibilidades de melhoria.</a:t>
            </a:r>
          </a:p>
          <a:p>
            <a:pPr>
              <a:buNone/>
            </a:pPr>
            <a:endParaRPr lang="pt-BR" sz="1400" dirty="0">
              <a:solidFill>
                <a:srgbClr val="000000"/>
              </a:solidFill>
              <a:latin typeface="Arial"/>
            </a:endParaRPr>
          </a:p>
          <a:p>
            <a:pPr>
              <a:buNone/>
            </a:pPr>
            <a:r>
              <a:rPr lang="pt-BR" sz="1400" dirty="0">
                <a:solidFill>
                  <a:srgbClr val="000000"/>
                </a:solidFill>
                <a:latin typeface="Arial"/>
              </a:rPr>
              <a:t>OBJETIVOS ESPECÍFICOS</a:t>
            </a:r>
          </a:p>
          <a:p>
            <a:pPr>
              <a:buNone/>
            </a:pPr>
            <a:r>
              <a:rPr lang="pt-BR" sz="1400" dirty="0">
                <a:solidFill>
                  <a:srgbClr val="000000"/>
                </a:solidFill>
                <a:latin typeface="Arial"/>
              </a:rPr>
              <a:t>• Identificar problemas de acessibilidade em sites de restaurantes.</a:t>
            </a:r>
          </a:p>
          <a:p>
            <a:pPr>
              <a:buNone/>
            </a:pPr>
            <a:r>
              <a:rPr lang="pt-BR" sz="1400" dirty="0">
                <a:solidFill>
                  <a:srgbClr val="000000"/>
                </a:solidFill>
                <a:latin typeface="Arial"/>
              </a:rPr>
              <a:t>• Discutir recursos digitais utilizados por pessoas com baixa visão.</a:t>
            </a:r>
          </a:p>
          <a:p>
            <a:pPr>
              <a:buNone/>
            </a:pPr>
            <a:r>
              <a:rPr lang="pt-BR" sz="1400" dirty="0">
                <a:solidFill>
                  <a:srgbClr val="000000"/>
                </a:solidFill>
                <a:latin typeface="Arial"/>
              </a:rPr>
              <a:t>• Relacionar acessibilidade e expansão do comércio eletrônico de alimentos.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É uma abordagem qualitativa, de natureza teórica, sem procedimentos práticos e baseados em referenciais teóricos. </a:t>
            </a:r>
            <a:endParaRPr lang="pt-BR" sz="18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None/>
            </a:pPr>
            <a:r>
              <a:rPr lang="pt-BR" sz="1400" dirty="0">
                <a:solidFill>
                  <a:srgbClr val="000000"/>
                </a:solidFill>
                <a:latin typeface="Arial"/>
              </a:rPr>
              <a:t>ACESSIBILIDADE EM SITES DE RESTAURANTES — PARK E HA (2023)</a:t>
            </a:r>
          </a:p>
          <a:p>
            <a:pPr>
              <a:buNone/>
            </a:pPr>
            <a:r>
              <a:rPr lang="pt-BR" sz="1400" dirty="0">
                <a:solidFill>
                  <a:srgbClr val="000000"/>
                </a:solidFill>
                <a:latin typeface="Arial"/>
              </a:rPr>
              <a:t>• Análise de 405 sites de restaurantes.</a:t>
            </a:r>
          </a:p>
          <a:p>
            <a:pPr>
              <a:buNone/>
            </a:pPr>
            <a:r>
              <a:rPr lang="pt-BR" sz="1400" dirty="0">
                <a:solidFill>
                  <a:srgbClr val="000000"/>
                </a:solidFill>
                <a:latin typeface="Arial"/>
              </a:rPr>
              <a:t>• Uso do </a:t>
            </a:r>
            <a:r>
              <a:rPr lang="pt-BR" sz="1400" dirty="0" err="1">
                <a:solidFill>
                  <a:srgbClr val="000000"/>
                </a:solidFill>
                <a:latin typeface="Arial"/>
              </a:rPr>
              <a:t>AChecker</a:t>
            </a:r>
            <a:r>
              <a:rPr lang="pt-BR" sz="1400" dirty="0">
                <a:solidFill>
                  <a:srgbClr val="000000"/>
                </a:solidFill>
                <a:latin typeface="Arial"/>
              </a:rPr>
              <a:t> e das diretrizes WCAG 2.0.</a:t>
            </a:r>
          </a:p>
          <a:p>
            <a:pPr>
              <a:buNone/>
            </a:pPr>
            <a:r>
              <a:rPr lang="pt-BR" sz="1400" dirty="0">
                <a:solidFill>
                  <a:srgbClr val="000000"/>
                </a:solidFill>
                <a:latin typeface="Arial"/>
              </a:rPr>
              <a:t>• Identificação de critérios ainda não plenamente atendidos.</a:t>
            </a:r>
          </a:p>
          <a:p>
            <a:pPr>
              <a:buNone/>
            </a:pPr>
            <a:endParaRPr lang="pt-BR" sz="1400" dirty="0">
              <a:solidFill>
                <a:srgbClr val="000000"/>
              </a:solidFill>
              <a:latin typeface="Arial"/>
            </a:endParaRPr>
          </a:p>
          <a:p>
            <a:pPr>
              <a:buNone/>
            </a:pPr>
            <a:r>
              <a:rPr lang="pt-BR" sz="1400" dirty="0">
                <a:solidFill>
                  <a:srgbClr val="000000"/>
                </a:solidFill>
                <a:latin typeface="Arial"/>
              </a:rPr>
              <a:t>TECNOLOGIA ASSISTIVA E BAIXA VISÃO — BORGES E MENDES (2024)</a:t>
            </a:r>
          </a:p>
          <a:p>
            <a:pPr>
              <a:buNone/>
            </a:pPr>
            <a:r>
              <a:rPr lang="pt-BR" sz="1400" dirty="0">
                <a:solidFill>
                  <a:srgbClr val="000000"/>
                </a:solidFill>
                <a:latin typeface="Arial"/>
              </a:rPr>
              <a:t>• Estudo com 28 pessoas com baixa visão.</a:t>
            </a:r>
          </a:p>
          <a:p>
            <a:pPr>
              <a:buNone/>
            </a:pPr>
            <a:r>
              <a:rPr lang="pt-BR" sz="1400" dirty="0">
                <a:solidFill>
                  <a:srgbClr val="000000"/>
                </a:solidFill>
                <a:latin typeface="Arial"/>
              </a:rPr>
              <a:t>• Relato de uso de 50 aplicativos e 9 recursos nativos.</a:t>
            </a:r>
          </a:p>
          <a:p>
            <a:pPr>
              <a:buNone/>
            </a:pPr>
            <a:r>
              <a:rPr lang="pt-BR" sz="1400" dirty="0">
                <a:solidFill>
                  <a:srgbClr val="000000"/>
                </a:solidFill>
                <a:latin typeface="Arial"/>
              </a:rPr>
              <a:t>• Relevância dos recursos assistivos para atividades cotidianas.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None/>
            </a:pPr>
            <a:r>
              <a:rPr lang="pt-BR" sz="1400" dirty="0">
                <a:solidFill>
                  <a:srgbClr val="000000"/>
                </a:solidFill>
                <a:latin typeface="Arial"/>
              </a:rPr>
              <a:t>COMÉRCIO ELETRÔNICO E SUSTENTABILIDADE — ALVES (2026)</a:t>
            </a:r>
          </a:p>
          <a:p>
            <a:pPr>
              <a:buNone/>
            </a:pPr>
            <a:r>
              <a:rPr lang="pt-BR" sz="1400" dirty="0">
                <a:solidFill>
                  <a:srgbClr val="000000"/>
                </a:solidFill>
                <a:latin typeface="Arial"/>
              </a:rPr>
              <a:t>• Estudo sobre compras online e delivery após a pandemia.</a:t>
            </a:r>
          </a:p>
          <a:p>
            <a:pPr>
              <a:buNone/>
            </a:pPr>
            <a:r>
              <a:rPr lang="pt-BR" sz="1400" dirty="0">
                <a:solidFill>
                  <a:srgbClr val="000000"/>
                </a:solidFill>
                <a:latin typeface="Arial"/>
              </a:rPr>
              <a:t>• Discussão de embalagens, transporte urbano e impactos socioambientais.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sz="1400" dirty="0"/>
              <a:t>A acessibilidade digital promove inclusão e autonomia.</a:t>
            </a:r>
          </a:p>
          <a:p>
            <a:r>
              <a:rPr lang="pt-BR" sz="1400" dirty="0"/>
              <a:t>Sites e aplicativos de alimentos ainda apresentam barreiras de acessibilidade.</a:t>
            </a:r>
          </a:p>
          <a:p>
            <a:r>
              <a:rPr lang="pt-BR" sz="1400" dirty="0"/>
              <a:t>Recursos assistivos facilitam o acesso de pessoas com deficiência.</a:t>
            </a:r>
          </a:p>
          <a:p>
            <a:r>
              <a:rPr lang="pt-BR" sz="1400" dirty="0"/>
              <a:t>É necessário melhorar a acessibilidade em plataformas de supermercados e delivery.</a:t>
            </a:r>
          </a:p>
          <a:p>
            <a:r>
              <a:rPr lang="pt-BR" sz="1400" dirty="0"/>
              <a:t>Novos estudos práticos podem contribuir para soluções mais acessíveis.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PARK, K.; HA, J.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Examination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of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web-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accessibility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in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the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restaurant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industry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.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Journal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of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Foodservice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Business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Research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, v. 26, n. 6, p. 823–842, 2023. DOI: 10.1080/15378020.2022.2051403.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BORGES, W. F.; MENDES, E. G. Tecnologia assistiva e baixa visão: apps e recursos de acessibilidade em dispositivos móveis. Cadernos Brasileiros de Terapia Ocupacional, v. 32, e3746, 2024. DOI: 10.1590/2526-8910.ctoAO288437461.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ALVES, J. D. M. O comércio eletrônico e o serviço de delivery de alimentos no pós-pandemia: impactos na sustentabilidade para as gerações futuras. Universidade Veiga de Almeida, 2026. Disponível em: https://ojs.uva.br/index.php/bancodeteses/article/view/940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“A acessibilidade digital é um caminho para a inclusão, garantindo que a tecnologia seja uma oportunidade para todos, e não uma barreira.”</a:t>
            </a:r>
            <a:endParaRPr lang="pt-BR" altLang="pt-BR" sz="3200" dirty="0">
              <a:solidFill>
                <a:srgbClr val="002D55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522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Vitor Muniz de Aguiar</cp:lastModifiedBy>
  <cp:revision>21</cp:revision>
  <dcterms:created xsi:type="dcterms:W3CDTF">2021-05-14T17:32:15Z</dcterms:created>
  <dcterms:modified xsi:type="dcterms:W3CDTF">2026-10-14T01:11:01Z</dcterms:modified>
</cp:coreProperties>
</file>